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B1AB7A-3DF0-93DC-B071-27BF88D5D9A5}" v="1" dt="2026-09-09T07:10:50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target_distribution (1).png
- eda_metadata (1).json
- target_distribution (1).csv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eda_metadata (1).json
- summary_statistics (1).csv
-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missing_value_summary (1).csv
- eda_metadata (1).json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target_distribution (1).png
- target_distribution (1).csv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summary_statistics (1).csv
- Chart generated from summary_statistics (1).csv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correlation_matrix (1).csv
- Chart generated from correlation_matrix (1).csv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correlation_matrix (1).csv
- Chart generated from correlation_matrix (1).csv
- eda_metadata (1).json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eda_metadata (1).json
- missing_value_summary (1).csv
- target_distribution (1).csv
- summary_statistics (1).csv
- correlation_matrix (1).csv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DIABETES RISK PREDICTION  |  PERSON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98480" y="2286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48A"/>
                </a:solidFill>
              </a:rPr>
              <a:t>Group 49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146304"/>
            <a:ext cx="4617720" cy="6364224"/>
          </a:xfrm>
          <a:prstGeom prst="rect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430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Exploratory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 Analysis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AF2"/>
                </a:solidFill>
              </a:rPr>
              <a:t>Diabetes Risk Prediction using Health &amp; Lifestyle Indicators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84048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890772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PERSON 3</a:t>
            </a:r>
            <a:endParaRPr lang="en-US" sz="950" dirty="0"/>
          </a:p>
        </p:txBody>
      </p:sp>
      <p:pic>
        <p:nvPicPr>
          <p:cNvPr id="8" name="Image 0" descr="/mnt/data/target_distribution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460" y="960120"/>
            <a:ext cx="6278880" cy="4709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589788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3B56"/>
                </a:solidFill>
              </a:rPr>
              <a:t>229,781 analyzed records  •  22 variables  •  3 target classes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3B56"/>
                </a:solidFill>
              </a:rPr>
              <a:t>1. Dataset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A"/>
                </a:solidFill>
              </a:rPr>
              <a:t>Processed analytical dataset after exact-duplicate removal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5603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65506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76AE"/>
                </a:solidFill>
              </a:rPr>
              <a:t>229,781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58952" y="21305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748A"/>
                </a:solidFill>
              </a:rPr>
              <a:t>ANALYTICAL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508760"/>
            <a:ext cx="25603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2152" y="165506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A9D8F"/>
                </a:solidFill>
              </a:rPr>
              <a:t>22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502152" y="21305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748A"/>
                </a:solidFill>
              </a:rPr>
              <a:t>VARIABLES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1508760"/>
            <a:ext cx="25603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45352" y="165506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29E4C"/>
                </a:solidFill>
              </a:rPr>
              <a:t>3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245352" y="21305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748A"/>
                </a:solidFill>
              </a:rPr>
              <a:t>TARGET CLASSES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23960" y="1508760"/>
            <a:ext cx="25603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88552" y="165506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7A6F9B"/>
                </a:solidFill>
              </a:rPr>
              <a:t>Diabetes_012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988552" y="21305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748A"/>
                </a:solidFill>
              </a:rPr>
              <a:t>TARGET VARIABLE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880360"/>
            <a:ext cx="109728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3B56"/>
                </a:solidFill>
              </a:rPr>
              <a:t>Feature landscape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68680" y="3703320"/>
            <a:ext cx="384048" cy="384048"/>
          </a:xfrm>
          <a:prstGeom prst="ellipse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9032" y="3685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B53"/>
                </a:solidFill>
              </a:rPr>
              <a:t>Clinical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99032" y="401421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High BP, high cholesterol, stroke, heart disease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7033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02552" y="3685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B53"/>
                </a:solidFill>
              </a:rPr>
              <a:t>Lifestyle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02552" y="401421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Physical activity, smoking, fruit and vegetable intake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4663440"/>
            <a:ext cx="384048" cy="384048"/>
          </a:xfrm>
          <a:prstGeom prst="ellipse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99032" y="4645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B53"/>
                </a:solidFill>
              </a:rPr>
              <a:t>Health status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99032" y="49743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BMI, general health, mental health, physical health, mobility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4663440"/>
            <a:ext cx="384048" cy="384048"/>
          </a:xfrm>
          <a:prstGeom prst="ellipse">
            <a:avLst/>
          </a:prstGeom>
          <a:solidFill>
            <a:srgbClr val="7A6F9B"/>
          </a:solidFill>
          <a:ln w="12700">
            <a:solidFill>
              <a:srgbClr val="7A6F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2552" y="4645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B53"/>
                </a:solidFill>
              </a:rPr>
              <a:t>Demographic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02552" y="49743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Age band, education, income and sex indicator</a:t>
            </a:r>
            <a:endParaRPr lang="en-US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3B56"/>
                </a:solidFill>
              </a:rPr>
              <a:t>2. Missing Value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A"/>
                </a:solidFill>
              </a:rPr>
              <a:t>All 22 analyzed variables are complete after preprocessing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108960" cy="3108960"/>
          </a:xfrm>
          <a:prstGeom prst="ellipse">
            <a:avLst/>
          </a:prstGeom>
          <a:solidFill>
            <a:srgbClr val="E8F5F1"/>
          </a:solidFill>
          <a:ln w="25400">
            <a:solidFill>
              <a:srgbClr val="B9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2057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2A9D8F"/>
                </a:solidFill>
              </a:rPr>
              <a:t>0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1298448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3B56"/>
                </a:solidFill>
              </a:rPr>
              <a:t>missing values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2748A"/>
                </a:solidFill>
              </a:rPr>
              <a:t>0.0% across every field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572768"/>
            <a:ext cx="6903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83B56"/>
                </a:solidFill>
              </a:rPr>
              <a:t>Assignment finding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9160" y="2331720"/>
            <a:ext cx="61722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The generated missing-value summary reports zero missing observations for each of the 22 variables.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The analytical dataset is therefore complete for EDA and downstream modeling.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No rows need to be excluded because of missingness at this stage.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34840" y="5138928"/>
            <a:ext cx="6903720" cy="621792"/>
          </a:xfrm>
          <a:prstGeom prst="roundRect">
            <a:avLst>
              <a:gd name="adj" fmla="val 7353"/>
            </a:avLst>
          </a:prstGeom>
          <a:solidFill>
            <a:srgbClr val="EAF4FA"/>
          </a:solidFill>
          <a:ln w="12700">
            <a:solidFill>
              <a:srgbClr val="BCD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5330952"/>
            <a:ext cx="6446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76AE"/>
                </a:solidFill>
              </a:rPr>
              <a:t>Reporting note: this conclusion applies to the processed analytical dataset used for these outputs.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3B56"/>
                </a:solidFill>
              </a:rPr>
              <a:t>3. Target Distribution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A"/>
                </a:solidFill>
              </a:rPr>
              <a:t>The target is strongly imbalanced, especially for the prediabetes class</a:t>
            </a:r>
            <a:endParaRPr lang="en-US" sz="1150" dirty="0"/>
          </a:p>
        </p:txBody>
      </p:sp>
      <p:pic>
        <p:nvPicPr>
          <p:cNvPr id="4" name="Image 0" descr="/mnt/data/target_distribution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" y="1371600"/>
            <a:ext cx="627888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627632"/>
            <a:ext cx="35204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0" y="1792224"/>
            <a:ext cx="438912" cy="438912"/>
          </a:xfrm>
          <a:prstGeom prst="ellipse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0" y="188366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823960" y="17647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B53"/>
                </a:solidFill>
              </a:rPr>
              <a:t>No diabetes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23960" y="20665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190,055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378440" y="18470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176AE"/>
                </a:solidFill>
              </a:rPr>
              <a:t>82.71%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001000" y="2679192"/>
            <a:ext cx="35204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2843784"/>
            <a:ext cx="438912" cy="43891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293522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823960" y="28163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B53"/>
                </a:solidFill>
              </a:rPr>
              <a:t>Prediabetes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823960" y="31181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4,629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378440" y="28986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9C46A"/>
                </a:solidFill>
              </a:rPr>
              <a:t>2.01%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001000" y="3730752"/>
            <a:ext cx="35204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0" y="3895344"/>
            <a:ext cx="438912" cy="438912"/>
          </a:xfrm>
          <a:prstGeom prst="ellipse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0" y="398678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823960" y="3867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B53"/>
                </a:solidFill>
              </a:rPr>
              <a:t>Diabetes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823960" y="4169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35,097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378440" y="39502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05A47"/>
                </a:solidFill>
              </a:rPr>
              <a:t>15.27%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001000" y="498348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FCEDEA"/>
          </a:solidFill>
          <a:ln w="12700">
            <a:solidFill>
              <a:srgbClr val="F3C5B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0" y="51755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47"/>
                </a:solidFill>
              </a:rPr>
              <a:t>Modeling implication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229600" y="54406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</a:rPr>
              <a:t>Do not rely on accuracy alone. Report class-level precision, recall and F1-score.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3B56"/>
                </a:solidFill>
              </a:rPr>
              <a:t>4. Feature Distribution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A"/>
                </a:solidFill>
              </a:rPr>
              <a:t>The population combines high cardiometabolic exposure with widespread reported activity</a:t>
            </a:r>
            <a:endParaRPr lang="en-US" sz="1150" dirty="0"/>
          </a:p>
        </p:txBody>
      </p:sp>
      <p:pic>
        <p:nvPicPr>
          <p:cNvPr id="4" name="Image 0" descr="/mnt/data/work_ppt/feature_preval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13472"/>
            <a:ext cx="7086600" cy="316024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417320"/>
            <a:ext cx="3566160" cy="4315968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17190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3B56"/>
                </a:solidFill>
              </a:rPr>
              <a:t>Selected distribution insights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229600" y="2423160"/>
            <a:ext cx="91440" cy="658368"/>
          </a:xfrm>
          <a:prstGeom prst="rect">
            <a:avLst/>
          </a:prstGeom>
          <a:solidFill>
            <a:srgbClr val="F29E4C"/>
          </a:solidFill>
          <a:ln w="12700">
            <a:solidFill>
              <a:srgbClr val="F29E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2414016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B53"/>
                </a:solidFill>
              </a:rPr>
              <a:t>BMI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58200" y="268833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Mean 28.69  |  Median 27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58200" y="29077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2748A"/>
                </a:solidFill>
              </a:rPr>
              <a:t>Range: 12 to 98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229600" y="3355848"/>
            <a:ext cx="91440" cy="658368"/>
          </a:xfrm>
          <a:prstGeom prst="rect">
            <a:avLst/>
          </a:prstGeom>
          <a:solidFill>
            <a:srgbClr val="7A6F9B"/>
          </a:solidFill>
          <a:ln w="12700">
            <a:solidFill>
              <a:srgbClr val="7A6F9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58200" y="334670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B53"/>
                </a:solidFill>
              </a:rPr>
              <a:t>Age band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58200" y="36210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Mean 8.09  |  Median 8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58200" y="384048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2748A"/>
                </a:solidFill>
              </a:rPr>
              <a:t>Scale: 1 to 13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229600" y="4288536"/>
            <a:ext cx="91440" cy="658368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58200" y="4279392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B53"/>
                </a:solidFill>
              </a:rPr>
              <a:t>General health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458200" y="45537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Mean 2.60  |  Median 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458200" y="477316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2748A"/>
                </a:solidFill>
              </a:rPr>
              <a:t>Scale: 1 to 5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229600" y="51023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</a:rPr>
              <a:t>Interpretation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0" y="53218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B53"/>
                </a:solidFill>
              </a:rPr>
              <a:t>High BP and high cholesterol each affect roughly 4 in 10 respondents, while 73.34% report physical activity.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3B56"/>
                </a:solidFill>
              </a:rPr>
              <a:t>5. Correlation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A"/>
                </a:solidFill>
              </a:rPr>
              <a:t>Associations with Diabetes_012 are modest; no single feature dominates</a:t>
            </a:r>
            <a:endParaRPr lang="en-US" sz="1150" dirty="0"/>
          </a:p>
        </p:txBody>
      </p:sp>
      <p:pic>
        <p:nvPicPr>
          <p:cNvPr id="4" name="Image 0" descr="/mnt/data/work_ppt/target_corre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01622"/>
            <a:ext cx="7772400" cy="42685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9640" y="1444752"/>
            <a:ext cx="2971800" cy="45262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42248" y="1764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5A47"/>
                </a:solidFill>
              </a:rPr>
              <a:t>Strongest positive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842248" y="2212848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B53"/>
                </a:solidFill>
              </a:rPr>
              <a:t>General health  +0.285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B53"/>
                </a:solidFill>
              </a:rPr>
              <a:t>High BP  +0.262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B53"/>
                </a:solidFill>
              </a:rPr>
              <a:t>BMI  +0.212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B53"/>
                </a:solidFill>
              </a:rPr>
              <a:t>Difficulty walking  +0.211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B53"/>
                </a:solidFill>
              </a:rPr>
              <a:t>High cholesterol  +0.203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42248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</a:rPr>
              <a:t>Strongest negative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842248" y="445312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B53"/>
                </a:solidFill>
              </a:rPr>
              <a:t>Income  −0.147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B53"/>
                </a:solidFill>
              </a:rPr>
              <a:t>Education  −0.108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B53"/>
                </a:solidFill>
              </a:rPr>
              <a:t>Physical activity  −0.103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842248" y="55321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2748A"/>
                </a:solidFill>
              </a:rPr>
              <a:t>Correlation indicates association, not causation.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3B56"/>
                </a:solidFill>
              </a:rPr>
              <a:t>6. Bivariate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A"/>
                </a:solidFill>
              </a:rPr>
              <a:t>Six priority features compared with the ordered diabetes outcome</a:t>
            </a:r>
            <a:endParaRPr lang="en-US" sz="1150" dirty="0"/>
          </a:p>
        </p:txBody>
      </p:sp>
      <p:pic>
        <p:nvPicPr>
          <p:cNvPr id="4" name="Image 0" descr="/mnt/data/work_ppt/bivariate_s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93613"/>
            <a:ext cx="7452360" cy="297135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41732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B56"/>
                </a:solidFill>
              </a:rPr>
              <a:t>Evidence-led interpretation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94192" y="2212848"/>
            <a:ext cx="2743200" cy="2606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243B53"/>
                </a:solidFill>
              </a:rPr>
              <a:t>General health has the strongest of the six associations (+0.285).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243B53"/>
                </a:solidFill>
              </a:rPr>
              <a:t>High BP (+0.262), BMI (+0.212) and high cholesterol (+0.203) rise with the ordered target.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243B53"/>
                </a:solidFill>
              </a:rPr>
              <a:t>Age is positively associated (+0.185).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243B53"/>
                </a:solidFill>
              </a:rPr>
              <a:t>Physical activity is inversely associated (−0.103).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77240" y="5943600"/>
            <a:ext cx="10789920" cy="411480"/>
          </a:xfrm>
          <a:prstGeom prst="roundRect">
            <a:avLst>
              <a:gd name="adj" fmla="val 8889"/>
            </a:avLst>
          </a:prstGeom>
          <a:solidFill>
            <a:srgbClr val="EAF4FA"/>
          </a:solidFill>
          <a:ln w="12700">
            <a:solidFill>
              <a:srgbClr val="BCD7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6062472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176AE"/>
                </a:solidFill>
              </a:rPr>
              <a:t>Interpretation boundary: these values summarize linear association; they do not prove a causal effect or substitute for group-level significance tests.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3B56"/>
                </a:solidFill>
              </a:rPr>
              <a:t>Steps 1–6: Consolidated Findings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A"/>
                </a:solidFill>
              </a:rPr>
              <a:t>A defensible foundation for feature importance and model evaluation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035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118872" cy="15727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733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A9D8F"/>
                </a:solidFill>
              </a:rPr>
              <a:t>DATA QUALITY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207568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B53"/>
                </a:solidFill>
              </a:rPr>
              <a:t>229,781 complete records; zero missing values in all 22 analyzed fields.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035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417320"/>
            <a:ext cx="118872" cy="1572768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6733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5A47"/>
                </a:solidFill>
              </a:rPr>
              <a:t>TARGET RISK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11112" y="207568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B53"/>
                </a:solidFill>
              </a:rPr>
              <a:t>82.71% are class 0; prediabetes is only 2.01%, creating severe class imbalance.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53035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383280"/>
            <a:ext cx="118872" cy="1572768"/>
          </a:xfrm>
          <a:prstGeom prst="rect">
            <a:avLst/>
          </a:prstGeom>
          <a:solidFill>
            <a:srgbClr val="F29E4C"/>
          </a:solidFill>
          <a:ln w="12700">
            <a:solidFill>
              <a:srgbClr val="F29E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639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E4C"/>
                </a:solidFill>
              </a:rPr>
              <a:t>HEALTH SIGNALS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" y="404164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B53"/>
                </a:solidFill>
              </a:rPr>
              <a:t>General health, high BP, BMI, mobility difficulty and high cholesterol show the largest positive associations.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3383280"/>
            <a:ext cx="53035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383280"/>
            <a:ext cx="118872" cy="1572768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3639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176AE"/>
                </a:solidFill>
              </a:rPr>
              <a:t>PROTECTIVE ASSOCIATIONS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11112" y="404164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B53"/>
                </a:solidFill>
              </a:rPr>
              <a:t>Income, education and physical activity show the largest negative correlations with the target.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504688"/>
            <a:ext cx="10927080" cy="566928"/>
          </a:xfrm>
          <a:prstGeom prst="roundRect">
            <a:avLst>
              <a:gd name="adj" fmla="val 8065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696712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 analytical stage: quantify feature importance and evaluate models with class-sensitive metrics.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Group 49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Risk Prediction: Exploratory Data Analysis</dc:title>
  <dc:subject>Person 3 EDA Findings</dc:subject>
  <dc:creator>Chezrla Raga Suma</dc:creator>
  <cp:lastModifiedBy>Chezrla Raga Suma</cp:lastModifiedBy>
  <cp:revision>3</cp:revision>
  <dcterms:created xsi:type="dcterms:W3CDTF">2026-09-09T07:05:53Z</dcterms:created>
  <dcterms:modified xsi:type="dcterms:W3CDTF">2026-09-09T07:11:33Z</dcterms:modified>
</cp:coreProperties>
</file>